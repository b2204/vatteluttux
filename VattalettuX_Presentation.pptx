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0"/>
            <a:ext cx="12188952" cy="2560320"/>
          </a:xfrm>
          <a:prstGeom prst="rect">
            <a:avLst/>
          </a:prstGeom>
          <a:solidFill>
            <a:srgbClr val="1F3964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Times New Roman"/>
              </a:rPr>
              <a:t>VattalettuX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DD8E6"/>
                </a:solidFill>
                <a:latin typeface="Times New Roman"/>
              </a:rPr>
              <a:t>A Deep Learning System for Reading Vatteluttu – An Ancient Tamil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343400"/>
            <a:ext cx="5760720" cy="38100"/>
          </a:xfrm>
          <a:prstGeom prst="rect">
            <a:avLst/>
          </a:prstGeom>
          <a:solidFill>
            <a:srgbClr val="C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3964"/>
                </a:solidFill>
                <a:latin typeface="Times New Roman"/>
              </a:rPr>
              <a:t>A Deep Learning-Based OCR System for Ancient Tamil Epigraphy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560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Times New Roman"/>
              </a:rPr>
              <a:t>[Your Name]  |  PG Department of Computer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85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  <a:latin typeface="Times New Roman"/>
              </a:rPr>
              <a:t>[Your College Name], Tamil Nadu, India  |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E74B5"/>
                </a:solidFill>
                <a:latin typeface="Times New Roman"/>
              </a:rPr>
              <a:t>Vatteluttu  •  Ancient Script  •  OCR  •  CNN  •  Deep Learning  •  Tamil Epigraphy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What is Vatteluttu?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Vatteluttu is one of the oldest Tamil writing systems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Used from 3rd to 12th century CE by Chola, Pandya &amp; Pallava kingdoms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Thousands of stone inscriptions survive on temple walls, pillars, and rock faces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These inscriptions hold records of royal orders, land grants &amp; daily life of ancient India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Today, only a very small number of trained epigraphists can read this script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Physical erosion of stone surfaces over centuries makes reading even harder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Government agencies (e.g., ASI) have recorded inscriptions, but
    converting them to digital text remains fully manual and expert-dependent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63040"/>
            <a:ext cx="4389120" cy="4114800"/>
          </a:xfrm>
          <a:prstGeom prst="rect">
            <a:avLst/>
          </a:prstGeom>
          <a:solidFill>
            <a:srgbClr val="EBF3FB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Times New Roman"/>
              </a:rPr>
              <a:t>🔴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0574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Times New Roman"/>
              </a:rPr>
              <a:t>Historical knowledge stored inside Vatteluttu inscriptions remains inaccessible to most researchers and the general public due to a lack of readable form and scarcity of experts.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114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  <a:latin typeface="Times New Roman"/>
              </a:rPr>
              <a:t>➜  VattalettuX solves this with Artificial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Why Do We Need VattalettuX?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Times New Roman"/>
              </a:rPr>
              <a:t>Three Core Challenges: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73736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Challenge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Explanation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Noisy Images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Stone photos have cracks, shadows, moss, uneven lighting &amp; erosion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Large Character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Vatteluttu has 247 distinct character classes — far more than any existing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Output Usability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Results must be in Modern Tamil Unicode so historians can actually use them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337560"/>
            <a:ext cx="11640312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Times New Roman"/>
              </a:rPr>
              <a:t>Our Solution — VattalettuX: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A fully web-based OCR system powered by Deep Learning (ResNet CNN)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Automatically reads Vatteluttu characters from stone inscription photos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Converts them to Modern Tamil Unicode text instantly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No installation needed — works in any web browser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▸  Built with React.js (Frontend)  +  FastAPI (Backend)  +  PyTorch CNN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Previous Research on Tamil &amp; Ancient Script Recognition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Author(s)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Work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Key Contribution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Murugan &amp; Visalakshi [1]
(Heritage Science, 2024)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Ancient Tamil inscription recognition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Used DRL framework — showed importance of separating detection &amp; recognition stages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Gayathri Devi et al. [2]
(Comput. Intelligence,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Tamil palm leaf manuscript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CNN + morphological preprocessing + CCA — similar challenges to worn stone surfaces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Vijaya Arjunan et al. [3]
(JISIS, 2025)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Vatteluttu script recognition (Deep Learning)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98% accuracy on only 28 character classes — directly related but very limited scope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4023360"/>
            <a:ext cx="11640312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114800"/>
            <a:ext cx="11430000" cy="2331720"/>
          </a:xfrm>
          <a:prstGeom prst="rect">
            <a:avLst/>
          </a:prstGeom>
          <a:solidFill>
            <a:srgbClr val="FFF3CD"/>
          </a:solidFill>
          <a:ln>
            <a:solidFill>
              <a:srgbClr val="C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6000"/>
                </a:solidFill>
                <a:latin typeface="Times New Roman"/>
              </a:rPr>
              <a:t>⚠  Research Gap — What Was Missing: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1064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Best existing Vatteluttu study covers only 28 character classes — far from the complete script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No study has attempted all 247 Vatteluttu characters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No fully deployed web application exists for real-world use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VattalettuX closes this gap — 247 classes (9× more) + live web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Key Deep Learning Architectures &amp; Techniques Used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61872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Architecture / Technique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Role in VattalettuX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LeNet [7]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LeCun et al. (1998)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Foundation of CNN-based document recognition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AlexNet 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Krizhevsky et al. (2012)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Proved deep CNNs outperform traditional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VGGNet [5]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Simonyan &amp; Zisserman (2015)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Small 3×3 filters for very deep feature extraction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ResNet [4]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He et al. (2016)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Residual/skip connections — our model is built on this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Dropout [10]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Srivastava et al. (2014)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Prevents overfitting — applied at p=0.5 in FC layer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Batch Normalization [12]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Ioffe &amp; Szegedy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Faster training &amp; stable convergence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Adam Optimizer [11]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Kingma &amp; Ba (2015)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Adaptive learning rate — used for all 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Data Augmentation [16]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Shorten &amp; Khoshgoftaar (2019)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Strategy for building 2,47,000-image synthetic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OpenCV [17]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Bradski (2000)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Core image processing — thresholding, CCA, morphology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PyTorch 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Paszke et al. (2019)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Deep learning framework for training &amp;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System Architecture —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7772400" cy="54864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STEP 1  |  User uploads inscription photo via 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01952"/>
            <a:ext cx="7772400" cy="54864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75104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STEP 2  |  React.js Frontend sends image to backend via REST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05456"/>
            <a:ext cx="7772400" cy="54864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578608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STEP 3  |  FastAPI Backend (Python) receives the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108960"/>
            <a:ext cx="7772400" cy="54864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Times New Roman"/>
              </a:rPr>
              <a:t>  STEP 4  |  Image Preprocessing  ←  OpenCV (Otsu, Morphology)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12464"/>
            <a:ext cx="7772400" cy="54864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785616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Times New Roman"/>
              </a:rPr>
              <a:t>  STEP 5  |  Character Segmentation  ←  Connected Component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15968"/>
            <a:ext cx="7772400" cy="54864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389120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Times New Roman"/>
              </a:rPr>
              <a:t>  STEP 6  |  CNN Classification  ←  ResNet + PyTorch (247 classes)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919472"/>
            <a:ext cx="7772400" cy="54864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992624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Times New Roman"/>
              </a:rPr>
              <a:t>  STEP 7  |  Tamil Character Mapping  ←  JSON database lookup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522976"/>
            <a:ext cx="7772400" cy="54864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5596128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STEP 8  |  Modern Tamil Unicode output displayed to user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280160"/>
            <a:ext cx="3566160" cy="3657600"/>
          </a:xfrm>
          <a:prstGeom prst="rect">
            <a:avLst/>
          </a:prstGeom>
          <a:solidFill>
            <a:srgbClr val="EBF3FB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REST API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126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  <a:latin typeface="Times New Roman"/>
              </a:rPr>
              <a:t>POST  /recognize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6400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   Runs full pipeline → returns Tamil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812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  <a:latin typeface="Times New Roman"/>
              </a:rPr>
              <a:t>GET  /health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7086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   Checks server &amp; model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7498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  <a:latin typeface="Times New Roman"/>
              </a:rPr>
              <a:t>GET  /character-map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7772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</a:rPr>
              <a:t>   Returns 247-character mapping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8C00"/>
                </a:solidFill>
                <a:latin typeface="Times New Roman"/>
              </a:rPr>
              <a:t>★ Insert: System Architecture Diagram (Fig. 1)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Stage 1 &amp; 2 — Image Preprocessing &amp; Character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Stage 1 — Image Preprocessing (4 Steps using OpenCV)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64208"/>
          <a:ext cx="1143000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Operation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Grayscale Conversion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Removes color info — reduces complexity, focuses on shape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Otsu's Binarization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Converts to black &amp; white — auto-selects best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Morphological Opening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Erosion → Dilation — removes noise specks from stone surface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Histogram Equalization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Spreads brightness range — improves contrast for faded characters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08C00"/>
                </a:solidFill>
                <a:latin typeface="Times New Roman"/>
              </a:rPr>
              <a:t>★ Insert: Preprocessing Pipeline Image (Fig. 2) here — Original → Grayscale → Binary → Clean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11640312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Stage 2 — Character Segmentation (Connected Component Analysis)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Algorithm (Suzuki &amp; Abe [9]) scans binary image and groups touching foreground pixels into blobs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Each blob gets a unique label and a bounding box  [x, y, width, height]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Invalid blobs are filtered out using two tests: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      •  Area Filter:  A_min  ≤  Area(blob)  ≤  A_max          (removes dust specks &amp; giant merges)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      •  Aspect Ratio Filter:  0.1  ≤  Width/Height  ≤  10.0   (removes line fragments)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Valid blobs are cropped from the image and resized to 64×64 pixels for the CNN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Stage 3 — CNN Classifier (ResNet-Based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Model Architecture: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64208"/>
          <a:ext cx="6400800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Input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64 × 64 grayscale character image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Residual Blocks 1 –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Convolutional layers with skip connections + ReLU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Batch Normalization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Applied after every convolutional layer [12]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Global Average 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Compresses feature maps into a single feature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Fully Connected Layer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512 units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Dropout  (p = 0.5)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Regularization — prevents overfitting [10]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Output Layer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247 units with Softmax — one score per Vatteluttu character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8920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  <a:latin typeface="Times New Roman"/>
              </a:rPr>
              <a:t>Training Setup: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285232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Framework: PyTorch  |  Optimizer: Adam  (lr = 0.001, β₁=0.9, β₂=0.999)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Batch Size: 32  |  Epochs: 100  |  Scheduler: ReduceLROnPlateau (patience=10)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Augmentation: Rotation ±15°, Brightness jitter, Flipping, Gaussian noise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261872"/>
            <a:ext cx="4846320" cy="5394960"/>
          </a:xfrm>
          <a:prstGeom prst="rect">
            <a:avLst/>
          </a:prstGeom>
          <a:solidFill>
            <a:srgbClr val="F5F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417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964"/>
                </a:solidFill>
                <a:latin typeface="Times New Roman"/>
              </a:rPr>
              <a:t>CNN Architecture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920240"/>
            <a:ext cx="4297680" cy="50292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19842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964"/>
                </a:solidFill>
                <a:latin typeface="Times New Roman"/>
              </a:rPr>
              <a:t>Input  —  64×64 Grayscale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404872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468880"/>
            <a:ext cx="4297680" cy="50292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25328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964"/>
                </a:solidFill>
                <a:latin typeface="Times New Roman"/>
              </a:rPr>
              <a:t>ResBlock 1  —  Conv + BN + ReLU + Skip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953512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3017520"/>
            <a:ext cx="4297680" cy="50292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30815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964"/>
                </a:solidFill>
                <a:latin typeface="Times New Roman"/>
              </a:rPr>
              <a:t>ResBlock 2  —  Conv + BN + ReLU + Skip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3502152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0" y="3566160"/>
            <a:ext cx="4297680" cy="50292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363016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964"/>
                </a:solidFill>
                <a:latin typeface="Times New Roman"/>
              </a:rPr>
              <a:t>ResBlock 3  —  Conv + BN + ReLU + Skip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4050791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4114800"/>
            <a:ext cx="4297680" cy="50292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417880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964"/>
                </a:solidFill>
                <a:latin typeface="Times New Roman"/>
              </a:rPr>
              <a:t>ResBlock 4  —  Conv + BN + ReLU + Skip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4599431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4663440"/>
            <a:ext cx="4297680" cy="502920"/>
          </a:xfrm>
          <a:prstGeom prst="rect">
            <a:avLst/>
          </a:prstGeom>
          <a:solidFill>
            <a:srgbClr val="C8FFC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47274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964"/>
                </a:solidFill>
                <a:latin typeface="Times New Roman"/>
              </a:rPr>
              <a:t>GAP  —  Global Avg Pooling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5148071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0" y="5212079"/>
            <a:ext cx="4297680" cy="502920"/>
          </a:xfrm>
          <a:prstGeom prst="rect">
            <a:avLst/>
          </a:prstGeom>
          <a:solidFill>
            <a:srgbClr val="FFF0C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52760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3964"/>
                </a:solidFill>
                <a:latin typeface="Times New Roman"/>
              </a:rPr>
              <a:t>FC + Dropout  —  512 units, p=0.5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5696711"/>
            <a:ext cx="182880" cy="137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0" y="5760719"/>
            <a:ext cx="4297680" cy="502920"/>
          </a:xfrm>
          <a:prstGeom prst="rect">
            <a:avLst/>
          </a:prstGeom>
          <a:solidFill>
            <a:srgbClr val="FFD0D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60920" y="5824727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964"/>
                </a:solidFill>
                <a:latin typeface="Times New Roman"/>
              </a:rPr>
              <a:t>Output  —  247-class Softmax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Stage 4 — Synthetic Dataset &amp; Tamil Character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Building the Training Dataset (No Real Dataset Existed):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6858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There is NO publicly available labeled dataset of Vatteluttu characters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Solution: Generated 2,47,000 synthetic images from authentic Vatteluttu fonts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1,000 variation images per character class  ×  247 classes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▸  Augmentation: Random rotation &amp; scaling, Dilation &amp; erosion (stone wear simulation),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Times New Roman"/>
              </a:rPr>
              <a:t>    Gaussian + salt-and-pepper noise, Stone-like textured backgrounds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Split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Percentage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Number of Images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70%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1,72,900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37,050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37,050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2,47,000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0" y="12618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247 Character Categories: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0" y="1664208"/>
          <a:ext cx="6492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Tamil Name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Classes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Vowels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உயிர் எழுத்து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Aytham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ஆய்தம்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Pure Consonants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மெய் எழுத்து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Consonants (with 'a')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Compound (Uyirmei)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உயிர்மெய்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0" y="42976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F3964"/>
                </a:solidFill>
                <a:latin typeface="Times New Roman"/>
              </a:rPr>
              <a:t>Tamil Mapping:  CNN output label (e.g. va_037) → JSON lookup → Modern Tamil Unicode character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846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8C00"/>
                </a:solidFill>
                <a:latin typeface="Times New Roman"/>
              </a:rPr>
              <a:t>★ Insert: Dataset pie chart (70/15/15) or sample augmented images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VattalettuX — Step-by-Step Recognition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21440" cy="640080"/>
          </a:xfrm>
          <a:prstGeom prst="rect">
            <a:avLst/>
          </a:prstGeom>
          <a:solidFill>
            <a:srgbClr val="D0E8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964"/>
                </a:solidFill>
                <a:latin typeface="Times New Roman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0759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Inscription image (photograph of a stone carving)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1"/>
            <a:ext cx="11521440" cy="82296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05739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964"/>
                </a:solidFill>
                <a:latin typeface="Times New Roman"/>
              </a:rPr>
              <a:t>STEP 1
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39111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Convert to Grayscale  →  Apply Otsu's Binarization  →  Morphological Opening (noise removal)  →  Histogram Equalization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07791"/>
            <a:ext cx="11521440" cy="822960"/>
          </a:xfrm>
          <a:prstGeom prst="rect">
            <a:avLst/>
          </a:prstGeom>
          <a:solidFill>
            <a:srgbClr val="E8F5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971799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964"/>
                </a:solidFill>
                <a:latin typeface="Times New Roman"/>
              </a:rPr>
              <a:t>STEP 2
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53511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Run Connected Component Analysis  →  Label all blobs  →  Draw bounding boxes
Filter blobs: Area filter  (A_min ≤ Area ≤ A_max)  +  Aspect ratio filter  (0.1 ≤ W/H ≤ 10.0)
Crop valid blobs  →  Resize each to 64×64 pixels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22191"/>
            <a:ext cx="11521440" cy="822960"/>
          </a:xfrm>
          <a:prstGeom prst="rect">
            <a:avLst/>
          </a:prstGeom>
          <a:solidFill>
            <a:srgbClr val="FDF5E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86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964"/>
                </a:solidFill>
                <a:latin typeface="Times New Roman"/>
              </a:rPr>
              <a:t>STEP 3
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67911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Feed 64×64 image into ResNet CNN  →  Get probability scores for all 247 classes
Select class with highest Softmax score  →  Record confidence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736592"/>
            <a:ext cx="11521440" cy="822960"/>
          </a:xfrm>
          <a:prstGeom prst="rect">
            <a:avLst/>
          </a:prstGeom>
          <a:solidFill>
            <a:srgbClr val="E8FFE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800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964"/>
                </a:solidFill>
                <a:latin typeface="Times New Roman"/>
              </a:rPr>
              <a:t>STEP 4
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782312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Look up CNN output label in JSON character map  →  Retrieve Modern Tamil Unicode equivalent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650992"/>
            <a:ext cx="11521440" cy="640080"/>
          </a:xfrm>
          <a:prstGeom prst="rect">
            <a:avLst/>
          </a:prstGeom>
          <a:solidFill>
            <a:srgbClr val="FFD0D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715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964"/>
                </a:solidFill>
                <a:latin typeface="Times New Roman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69671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</a:rPr>
              <a:t>Sequence of Modern Tamil Unicode characters + Confidence scores per character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Technology Stack &amp; Web Application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Technology Stack: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64208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Frontend 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React.js + TypeScript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Backend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FastAPI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Deep Learning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PyTorch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Image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OpenCV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Model Architecture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ResNet-inspired CNN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Character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JSON  (247 entries)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Deployment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Web Application (any browser, no install)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9834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Web Application Features: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376672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Drag-and-drop image upload   ▸  Live bounding box preview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Character-by-character result display   ▸  Confidence scores shown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Export output as plain text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577840" cy="5394960"/>
          </a:xfrm>
          <a:prstGeom prst="rect">
            <a:avLst/>
          </a:prstGeom>
          <a:solidFill>
            <a:srgbClr val="F0F4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3200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08C00"/>
                </a:solidFill>
                <a:latin typeface="Times New Roman"/>
              </a:rPr>
              <a:t>★ Insert: Web Application Screenshot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49039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  <a:latin typeface="Times New Roman"/>
              </a:rPr>
              <a:t>Upload Panel  |  Bounding Box Preview
Recognized Characters  |  Tamil Unicode Output
Confidence Scores  |  Export Button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Result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Classification Accuracy — 37,050 Held-Out Test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261872"/>
            <a:ext cx="2743200" cy="10515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29844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8C00"/>
                </a:solidFill>
                <a:latin typeface="Times New Roman"/>
              </a:rPr>
              <a:t>92.8%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Overall Top-1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61872"/>
            <a:ext cx="2743200" cy="10515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29844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8C00"/>
                </a:solidFill>
                <a:latin typeface="Times New Roman"/>
              </a:rPr>
              <a:t>98.1%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Overall Top-5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61872"/>
            <a:ext cx="2743200" cy="10515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29844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8C00"/>
                </a:solidFill>
                <a:latin typeface="Times New Roman"/>
              </a:rPr>
              <a:t>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Character Classes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2423160"/>
          <a:ext cx="7772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Character Category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No. of Classes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Top-1 Accuracy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Top-5 Accuracy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Vowels  (உயிர்)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99.8%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Aytham  (ஆய்தம்)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Pure Consonants  (மெய்)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95.6%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99.2%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Consonants  (with 'a')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Compound Characters (உயிர்மெய்)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91.4%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321040" y="242316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08C00"/>
                </a:solidFill>
                <a:latin typeface="Times New Roman"/>
              </a:rPr>
              <a:t>★ Insert: Accuracy bar chart (by category)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Times New Roman"/>
              </a:rPr>
              <a:t>Note: Compound (Uyirmei) characters are harder — 198 classes differing only in small diacritic vowel 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Result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Segmentation Results &amp; Comparison with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Segmentation Performance (CCA):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64208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Image Condition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Well-separated characters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Moderately spaced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Closely packed characters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Overall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4630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08C00"/>
                </a:solidFill>
                <a:latin typeface="Times New Roman"/>
              </a:rPr>
              <a:t>★ Insert: Segmentation output image here
(bounding boxes on inscription image)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657600"/>
            <a:ext cx="11640312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964"/>
                </a:solidFill>
                <a:latin typeface="Times New Roman"/>
              </a:rPr>
              <a:t>Comparison with Related Work: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1605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Study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Script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Classes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Murugan &amp; Visalakshi [1]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Ancient Tamil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DRL Framework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Gayathri Devi et al. 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Tamil Palm Leaf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Vijaya Arjunan et al. [3]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Vatteluttu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Deep Learning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98.0%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Howard et al. [25]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MobileNet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70.6%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VattalettuX (Proposed)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Vatteluttu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ResNet CNN [4]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247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92.8%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0807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964"/>
                </a:solidFill>
                <a:latin typeface="Times New Roman"/>
              </a:rPr>
              <a:t>Key Insight: Vijaya Arjunan achieved 98% on 28 classes. We achieve 92.8% on 247 classes — a 9× harder problem.
Processing Speed: Avg. 1.8 sec/image on CPU  |  &lt; 0.5 sec with GPU  |  Only fully deployed web app in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DD8E6"/>
                </a:solidFill>
                <a:latin typeface="Times New Roman"/>
              </a:rPr>
              <a:t>VattalettuX — Key Achievements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Times New Roman"/>
              </a:rPr>
              <a:t>✅  Key Achievements: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11430000" cy="64008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1.  Largest Vatteluttu character set  —  247 classes — far more than the 28 classes covered by any prior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50008"/>
            <a:ext cx="11430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2.  Effective synthetic data pipeline  —  2,47,000 images generated simulating real stone surface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35808"/>
            <a:ext cx="11430000" cy="640080"/>
          </a:xfrm>
          <a:prstGeom prst="rect">
            <a:avLst/>
          </a:prstGeom>
          <a:solidFill>
            <a:srgbClr val="D6E4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1272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3.  92.8% Top-1 accuracy  —  ResNet CNN trained with PyTorch achieves strong performance across all 5 character 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21608"/>
            <a:ext cx="11430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813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Times New Roman"/>
              </a:rPr>
              <a:t>  4.  Fully deployed web application  —  Accessible to historians and the general public — no installation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26280"/>
            <a:ext cx="11640312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Times New Roman"/>
              </a:rPr>
              <a:t>🚀  Future Work: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29200"/>
            <a:ext cx="11430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Transformer-based recognition (TrOCR) — for contextual word-level sequence recognition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GAN-based data synthesis — more realistic stone-texture training samples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Mobile deployment — MobileNet for field use by archaeologists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Real inscription dataset — label actual Vatteluttu stone photographs for better robustness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▸  Language model post-correction — Tamil LM to auto-correct ambiguous OCR outputs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61872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[1]  B. Murugan &amp; P. Visalakshi — Ancient Tamil Inscription Recognition (DRL Framework), Heritage Science, 2024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[2]  S. Gayathri Devi et al. — Deep Learning for Cursive Tamil Characters in Palm Leaf Manuscripts, Comput. Intelligence, 2022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[3]  R. Vijaya Arjunan et al. — Deciphering Vatteluttu (Deep Learning, 28 classes, 98%), JISIS, 2025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[4]  K. He et al. — Deep Residual Learning for Image Recognition (ResNet), CVPR, 2016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[5]  K. Simonyan &amp; A. Zisserman — Very Deep Convolutional Networks (VGGNet), ICLR, 2015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[6]  A. Krizhevsky et al. — ImageNet Classification with Deep CNNs (AlexNet), NIPS, 2012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[7]  Y. LeCun et al. — Gradient-Based Learning Applied to Document Recognition (LeNet), IEEE, 1998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[8]  N. Otsu — A Threshold Selection Method from Gray-Level Histograms, IEEE Trans. SMC, 1979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[9]  S. Suzuki &amp; K. Abe — Topological Structural Analysis by Border Following (CCA), CVGIP, 1985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[10] N. Srivastava et al. — Dropout: A Simple Way to Prevent Neural Networks from Overfitting, JMLR, 2014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[11] D. P. Kingma &amp; J. Ba — Adam: A Method for Stochastic Optimization, ICLR, 2015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[12] S. Ioffe &amp; C. Szegedy — Batch Normalization: Accelerating Deep Network Training, ICML, 2015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[15] A. Paszke et al. — PyTorch: An Imperative Style Deep Learning Library, NeurIPS, 2019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[16] C. Shorten &amp; T. M. Khoshgoftaar — A Survey on Image Data Augmentation for Deep Learning, J. Big Data, 2019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[17] G. Bradski — The OpenCV Library, Dr. Dobb's Journal, 2000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000000"/>
                </a:solidFill>
                <a:latin typeface="Times New Roman"/>
              </a:rPr>
              <a:t>[25] A. G. Howard et al. — MobileNets: Efficient CNNs for Mobile Vision Applications, arXiv, 2017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2534</Words>
  <Application>Microsoft Office PowerPoint</Application>
  <PresentationFormat>Custom</PresentationFormat>
  <Paragraphs>378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Barathrajan Selvaraju</cp:lastModifiedBy>
  <cp:revision>2</cp:revision>
  <dcterms:created xsi:type="dcterms:W3CDTF">2013-01-27T09:14:16Z</dcterms:created>
  <dcterms:modified xsi:type="dcterms:W3CDTF">2026-02-23T06:42:59Z</dcterms:modified>
  <cp:category/>
</cp:coreProperties>
</file>